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033" autoAdjust="0"/>
  </p:normalViewPr>
  <p:slideViewPr>
    <p:cSldViewPr snapToGrid="0">
      <p:cViewPr varScale="1">
        <p:scale>
          <a:sx n="89" d="100"/>
          <a:sy n="89" d="100"/>
        </p:scale>
        <p:origin x="466"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9/7/2026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9/7/2026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9/7/2026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957406" y="4093160"/>
            <a:ext cx="5443394" cy="861497"/>
          </a:xfrm>
        </p:spPr>
        <p:txBody>
          <a:bodyPr vert="horz" lIns="91440" tIns="45720" rIns="91440" bIns="45720" rtlCol="0" anchor="t">
            <a:normAutofit/>
          </a:bodyPr>
          <a:lstStyle/>
          <a:p>
            <a:r>
              <a:rPr lang="en-US" sz="1800" dirty="0">
                <a:solidFill>
                  <a:schemeClr val="tx1"/>
                </a:solidFill>
                <a:latin typeface="+mn-lt"/>
              </a:rPr>
              <a:t>  </a:t>
            </a:r>
            <a:r>
              <a:rPr lang="en-US" sz="1800" dirty="0">
                <a:solidFill>
                  <a:schemeClr val="tx1"/>
                </a:solidFill>
                <a:latin typeface="Times New Roman" panose="02020603050405020304" pitchFamily="18" charset="0"/>
                <a:cs typeface="Times New Roman" panose="02020603050405020304" pitchFamily="18" charset="0"/>
              </a:rPr>
              <a:t>Karan </a:t>
            </a:r>
            <a:r>
              <a:rPr lang="en-US" sz="1800" dirty="0" err="1">
                <a:solidFill>
                  <a:schemeClr val="tx1"/>
                </a:solidFill>
                <a:latin typeface="Times New Roman" panose="02020603050405020304" pitchFamily="18" charset="0"/>
                <a:cs typeface="Times New Roman" panose="02020603050405020304" pitchFamily="18" charset="0"/>
              </a:rPr>
              <a:t>Chakradhari</a:t>
            </a:r>
            <a:endParaRPr lang="en-IN" sz="1800" dirty="0">
              <a:solidFill>
                <a:schemeClr val="tx1"/>
              </a:solidFill>
              <a:latin typeface="Times New Roman" panose="02020603050405020304" pitchFamily="18" charset="0"/>
              <a:cs typeface="Times New Roman" panose="02020603050405020304" pitchFamily="18" charset="0"/>
            </a:endParaRPr>
          </a:p>
          <a:p>
            <a:r>
              <a:rPr lang="en-US" sz="1800" dirty="0">
                <a:solidFill>
                  <a:schemeClr val="tx1"/>
                </a:solidFill>
                <a:latin typeface="Times New Roman" panose="02020603050405020304" pitchFamily="18" charset="0"/>
                <a:cs typeface="Times New Roman" panose="02020603050405020304" pitchFamily="18" charset="0"/>
              </a:rPr>
              <a:t>  Dr. C.V. Raman University, Bilaspur ,Chhattisgarh</a:t>
            </a:r>
            <a:endParaRPr lang="en-IN" sz="1800" dirty="0">
              <a:solidFill>
                <a:schemeClr val="tx1"/>
              </a:solidFill>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957406" y="2735754"/>
            <a:ext cx="4998720" cy="1048542"/>
          </a:xfrm>
        </p:spPr>
        <p:txBody>
          <a:bodyPr>
            <a:normAutofit fontScale="90000"/>
          </a:bodyPr>
          <a:lstStyle/>
          <a:p>
            <a:r>
              <a:rPr lang="en-GB" sz="3200" dirty="0">
                <a:latin typeface="Times New Roman" panose="02020603050405020304" pitchFamily="18" charset="0"/>
                <a:cs typeface="Times New Roman" panose="02020603050405020304" pitchFamily="18" charset="0"/>
              </a:rPr>
              <a:t>Seasonal Agriculture Performance Analysis</a:t>
            </a:r>
            <a:endParaRPr lang="en-IN" sz="3200" dirty="0">
              <a:latin typeface="Times New Roman" panose="02020603050405020304" pitchFamily="18" charset="0"/>
              <a:cs typeface="Times New Roman" panose="02020603050405020304" pitchFamily="18" charset="0"/>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1011785" y="5154060"/>
            <a:ext cx="3614594"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AICTE STU ID : STU6a1ad8009ca8a1780144128</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949204" cy="4119802"/>
          </a:xfrm>
        </p:spPr>
        <p:txBody>
          <a:bodyPr vert="horz" lIns="91440" tIns="45720" rIns="91440" bIns="45720" rtlCol="0" anchor="t">
            <a:noAutofit/>
          </a:bodyPr>
          <a:lstStyle/>
          <a:p>
            <a:pPr>
              <a:lnSpc>
                <a:spcPct val="100000"/>
              </a:lnSpc>
            </a:pPr>
            <a:r>
              <a:rPr lang="en-IN" sz="1800"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1800" dirty="0">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latin typeface="Times New Roman" panose="02020603050405020304" pitchFamily="18" charset="0"/>
                <a:cs typeface="Times New Roman" panose="02020603050405020304" pitchFamily="18" charset="0"/>
              </a:rPr>
              <a:t>PROBLEM  STATEMENT</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latin typeface="Times New Roman" panose="02020603050405020304" pitchFamily="18" charset="0"/>
                <a:cs typeface="Times New Roman" panose="02020603050405020304" pitchFamily="18" charset="0"/>
              </a:rPr>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10" name="TextBox 9"/>
          <p:cNvSpPr txBox="1"/>
          <p:nvPr/>
        </p:nvSpPr>
        <p:spPr>
          <a:xfrm>
            <a:off x="660399" y="1875556"/>
            <a:ext cx="9800000" cy="2937214"/>
          </a:xfrm>
          <a:prstGeom prst="rect">
            <a:avLst/>
          </a:prstGeom>
          <a:noFill/>
        </p:spPr>
        <p:txBody>
          <a:bodyPr wrap="square">
            <a:spAutoFit/>
          </a:bodyPr>
          <a:lstStyle/>
          <a:p>
            <a:pPr algn="l">
              <a:lnSpc>
                <a:spcPct val="130000"/>
              </a:lnSpc>
              <a:spcAft>
                <a:spcPts val="800"/>
              </a:spcAft>
            </a:pPr>
            <a:r>
              <a:rPr sz="1800" dirty="0">
                <a:solidFill>
                  <a:srgbClr val="333333"/>
                </a:solidFill>
                <a:latin typeface="Times New Roman" panose="02020603050405020304" pitchFamily="18" charset="0"/>
                <a:cs typeface="Times New Roman" panose="02020603050405020304" pitchFamily="18" charset="0"/>
              </a:rPr>
              <a:t>For this project I worked with 4,000 farm records collected across three cropping seasons - Kharif, Rabi and Zaid - covering 8 Indian states and 8 major crops. I used Python (Pandas, NumPy, Matplotlib and Seaborn) inside a Jupyter Notebook to clean up the data first, since rainfall, soil moisture and yield all had a few missing values. Once that was sorted, I looked at how weather, irrigation, soil conditions and input use change from season to season, and how those changes end up affecting yield, cost and profit. I relied mostly on descriptive statistics, correlation analysis and season-wise comparisons to spot patterns, then built visualizations to make everything easier to read. The end goal was to walk away with a few practical, data-backed recommendations for planning farming activity season by season.</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33019"/>
            <a:ext cx="7904481" cy="3990023"/>
          </a:xfrm>
        </p:spPr>
        <p:txBody>
          <a:bodyPr>
            <a:normAutofit fontScale="55000" lnSpcReduction="20000"/>
          </a:bodyPr>
          <a:lstStyle/>
          <a:p>
            <a:pPr lvl="0"/>
            <a:r>
              <a:rPr lang="en-IN" sz="3600" dirty="0">
                <a:latin typeface="Times New Roman" panose="02020603050405020304" pitchFamily="18" charset="0"/>
                <a:cs typeface="Times New Roman" panose="02020603050405020304" pitchFamily="18" charset="0"/>
              </a:rPr>
              <a:t>Farmers deciding which crops and irrigation methods make sense for the season ahead</a:t>
            </a:r>
          </a:p>
          <a:p>
            <a:pPr lvl="0"/>
            <a:r>
              <a:rPr lang="en-IN" sz="3600" dirty="0">
                <a:latin typeface="Times New Roman" panose="02020603050405020304" pitchFamily="18" charset="0"/>
                <a:cs typeface="Times New Roman" panose="02020603050405020304" pitchFamily="18" charset="0"/>
              </a:rPr>
              <a:t>Extension officers and state agriculture departments shaping seasonal advisories</a:t>
            </a:r>
          </a:p>
          <a:p>
            <a:pPr lvl="0"/>
            <a:r>
              <a:rPr lang="en-IN" sz="3600" dirty="0">
                <a:latin typeface="Times New Roman" panose="02020603050405020304" pitchFamily="18" charset="0"/>
                <a:cs typeface="Times New Roman" panose="02020603050405020304" pitchFamily="18" charset="0"/>
              </a:rPr>
              <a:t>Input suppliers - fertilizer, seed and irrigation companies - planning seasonal demand</a:t>
            </a:r>
          </a:p>
          <a:p>
            <a:pPr lvl="0"/>
            <a:r>
              <a:rPr lang="en-IN" sz="3600" dirty="0">
                <a:latin typeface="Times New Roman" panose="02020603050405020304" pitchFamily="18" charset="0"/>
                <a:cs typeface="Times New Roman" panose="02020603050405020304" pitchFamily="18" charset="0"/>
              </a:rPr>
              <a:t>Banks and crop insurance providers gauging how risky a season is before lending</a:t>
            </a:r>
          </a:p>
          <a:p>
            <a:pPr lvl="0"/>
            <a:r>
              <a:rPr lang="en-IN" sz="3600" dirty="0">
                <a:latin typeface="Times New Roman" panose="02020603050405020304" pitchFamily="18" charset="0"/>
                <a:cs typeface="Times New Roman" panose="02020603050405020304" pitchFamily="18" charset="0"/>
              </a:rPr>
              <a:t>Researchers and students studying seasonal patterns in Indian agriculture</a:t>
            </a:r>
          </a:p>
          <a:p>
            <a:pPr lvl="0"/>
            <a:r>
              <a:rPr lang="en-IN" sz="3600" dirty="0">
                <a:latin typeface="Times New Roman" panose="02020603050405020304" pitchFamily="18" charset="0"/>
                <a:cs typeface="Times New Roman" panose="02020603050405020304" pitchFamily="18" charset="0"/>
              </a:rPr>
              <a:t>Agri-tech developers building tools that help farmers plan around the season</a:t>
            </a:r>
          </a:p>
          <a:p>
            <a:pPr marL="0" indent="0" algn="just">
              <a:lnSpc>
                <a:spcPct val="150000"/>
              </a:lnSpc>
              <a:buNone/>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latin typeface="Times New Roman" panose="02020603050405020304" pitchFamily="18" charset="0"/>
                <a:cs typeface="Times New Roman" panose="02020603050405020304" pitchFamily="18" charset="0"/>
              </a:rPr>
              <a:t>WHO ARE THE END USERS?</a:t>
            </a:r>
            <a:endParaRPr lang="en-IN" sz="2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452839" y="1614552"/>
            <a:ext cx="9027702" cy="5243448"/>
          </a:xfrm>
        </p:spPr>
        <p:txBody>
          <a:bodyPr/>
          <a:lstStyle/>
          <a:p>
            <a:pPr lvl="0"/>
            <a:r>
              <a:rPr lang="en-IN" dirty="0">
                <a:latin typeface="Times New Roman" panose="02020603050405020304" pitchFamily="18" charset="0"/>
                <a:cs typeface="Times New Roman" panose="02020603050405020304" pitchFamily="18" charset="0"/>
              </a:rPr>
              <a:t>Python 3 - the main language used for the whole analysis</a:t>
            </a:r>
          </a:p>
          <a:p>
            <a:pPr lvl="0"/>
            <a:r>
              <a:rPr lang="en-IN" dirty="0">
                <a:latin typeface="Times New Roman" panose="02020603050405020304" pitchFamily="18" charset="0"/>
                <a:cs typeface="Times New Roman" panose="02020603050405020304" pitchFamily="18" charset="0"/>
              </a:rPr>
              <a:t>Pandas &amp; NumPy - for cleaning the data and running the calculations</a:t>
            </a:r>
          </a:p>
          <a:p>
            <a:pPr lvl="0"/>
            <a:r>
              <a:rPr lang="en-IN" dirty="0">
                <a:latin typeface="Times New Roman" panose="02020603050405020304" pitchFamily="18" charset="0"/>
                <a:cs typeface="Times New Roman" panose="02020603050405020304" pitchFamily="18" charset="0"/>
              </a:rPr>
              <a:t>Matplotlib &amp; Seaborn - for all the charts and visualizations</a:t>
            </a:r>
          </a:p>
          <a:p>
            <a:pPr lvl="0"/>
            <a:r>
              <a:rPr lang="en-IN" dirty="0">
                <a:latin typeface="Times New Roman" panose="02020603050405020304" pitchFamily="18" charset="0"/>
                <a:cs typeface="Times New Roman" panose="02020603050405020304" pitchFamily="18" charset="0"/>
              </a:rPr>
              <a:t>Jupyter Notebook - to keep the code, output and explanations together in one place</a:t>
            </a:r>
          </a:p>
          <a:p>
            <a:pPr lvl="0"/>
            <a:r>
              <a:rPr lang="en-IN" dirty="0">
                <a:latin typeface="Times New Roman" panose="02020603050405020304" pitchFamily="18" charset="0"/>
                <a:cs typeface="Times New Roman" panose="02020603050405020304" pitchFamily="18" charset="0"/>
              </a:rPr>
              <a:t>Basic statistics - descriptive stats, correlation checks and season-wise comparisons</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1520466" y="334314"/>
            <a:ext cx="5306291" cy="847817"/>
          </a:xfrm>
        </p:spPr>
        <p:txBody>
          <a:bodyPr>
            <a:normAutofit/>
          </a:bodyPr>
          <a:lstStyle/>
          <a:p>
            <a:r>
              <a:rPr lang="en-US" dirty="0">
                <a:latin typeface="Times New Roman" panose="02020603050405020304" pitchFamily="18" charset="0"/>
                <a:cs typeface="Times New Roman" panose="02020603050405020304" pitchFamily="18" charset="0"/>
              </a:rPr>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latin typeface="Times New Roman" panose="02020603050405020304" pitchFamily="18" charset="0"/>
                <a:cs typeface="Times New Roman" panose="02020603050405020304" pitchFamily="18" charset="0"/>
              </a:rPr>
              <a:t>RESULTS</a:t>
            </a:r>
            <a:r>
              <a:rPr lang="en-GB" dirty="0">
                <a:latin typeface="Arial"/>
              </a:rPr>
              <a:t>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896000" y="1230000"/>
            <a:ext cx="8300000" cy="400000"/>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700" b="1" dirty="0">
                <a:solidFill>
                  <a:srgbClr val="2C5F2D"/>
                </a:solidFill>
                <a:latin typeface="Times New Roman" panose="02020603050405020304" pitchFamily="18" charset="0"/>
                <a:cs typeface="Times New Roman" panose="02020603050405020304" pitchFamily="18" charset="0"/>
              </a:rPr>
              <a:t>Kharif Is Clearly the Strongest Season</a:t>
            </a:r>
            <a:endParaRPr lang="en-GB" sz="2000" dirty="0">
              <a:latin typeface="Times New Roman" panose="02020603050405020304" pitchFamily="18" charset="0"/>
              <a:cs typeface="Times New Roman" panose="02020603050405020304" pitchFamily="18" charset="0"/>
            </a:endParaRPr>
          </a:p>
        </p:txBody>
      </p:sp>
      <p:pic>
        <p:nvPicPr>
          <p:cNvPr id="24" name="Picture 23" descr="chart1_yield_profit.png"/>
          <p:cNvPicPr>
            <a:picLocks noChangeAspect="1"/>
          </p:cNvPicPr>
          <p:nvPr/>
        </p:nvPicPr>
        <p:blipFill>
          <a:blip r:embed="rId2"/>
          <a:stretch>
            <a:fillRect/>
          </a:stretch>
        </p:blipFill>
        <p:spPr>
          <a:xfrm>
            <a:off x="896000" y="2100000"/>
            <a:ext cx="8300000" cy="3244545"/>
          </a:xfrm>
          <a:prstGeom prst="rect">
            <a:avLst/>
          </a:prstGeom>
        </p:spPr>
      </p:pic>
      <p:sp>
        <p:nvSpPr>
          <p:cNvPr id="25" name="TextBox 24"/>
          <p:cNvSpPr txBox="1"/>
          <p:nvPr/>
        </p:nvSpPr>
        <p:spPr>
          <a:xfrm>
            <a:off x="896000" y="5434545"/>
            <a:ext cx="8300000" cy="461665"/>
          </a:xfrm>
          <a:prstGeom prst="rect">
            <a:avLst/>
          </a:prstGeom>
          <a:noFill/>
        </p:spPr>
        <p:txBody>
          <a:bodyPr wrap="square">
            <a:spAutoFit/>
          </a:bodyPr>
          <a:lstStyle/>
          <a:p>
            <a:r>
              <a:rPr sz="1200" i="1" dirty="0">
                <a:solidFill>
                  <a:srgbClr val="333333"/>
                </a:solidFill>
                <a:latin typeface="Times New Roman" panose="02020603050405020304" pitchFamily="18" charset="0"/>
                <a:cs typeface="Times New Roman" panose="02020603050405020304" pitchFamily="18" charset="0"/>
              </a:rPr>
              <a:t>On average, Kharif gives the best yield (5.63 t/ha) and the best profit (₹1.79L). Zaid actually runs at a loss on average - it's the toughest season financially.</a:t>
            </a:r>
          </a:p>
        </p:txBody>
      </p:sp>
    </p:spTree>
    <p:extLst>
      <p:ext uri="{BB962C8B-B14F-4D97-AF65-F5344CB8AC3E}">
        <p14:creationId xmlns:p14="http://schemas.microsoft.com/office/powerpoint/2010/main" val="1086225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latin typeface="Times New Roman" panose="02020603050405020304" pitchFamily="18" charset="0"/>
                <a:cs typeface="Times New Roman" panose="02020603050405020304" pitchFamily="18" charset="0"/>
              </a:rPr>
              <a:t>RESULTS</a:t>
            </a:r>
            <a:r>
              <a:rPr lang="en-GB" dirty="0">
                <a:latin typeface="Arial"/>
              </a:rPr>
              <a:t>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896000" y="1230000"/>
            <a:ext cx="8300000" cy="400000"/>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700" b="1" dirty="0">
                <a:solidFill>
                  <a:srgbClr val="2C5F2D"/>
                </a:solidFill>
                <a:latin typeface="Times New Roman" panose="02020603050405020304" pitchFamily="18" charset="0"/>
                <a:cs typeface="Times New Roman" panose="02020603050405020304" pitchFamily="18" charset="0"/>
              </a:rPr>
              <a:t>Weather Changes a Lot Between Seasons</a:t>
            </a:r>
            <a:endParaRPr lang="en-GB" sz="2000" dirty="0">
              <a:latin typeface="Times New Roman" panose="02020603050405020304" pitchFamily="18" charset="0"/>
              <a:cs typeface="Times New Roman" panose="02020603050405020304" pitchFamily="18" charset="0"/>
            </a:endParaRPr>
          </a:p>
        </p:txBody>
      </p:sp>
      <p:pic>
        <p:nvPicPr>
          <p:cNvPr id="31" name="Picture 30" descr="chart2_environment.png"/>
          <p:cNvPicPr>
            <a:picLocks noChangeAspect="1"/>
          </p:cNvPicPr>
          <p:nvPr/>
        </p:nvPicPr>
        <p:blipFill>
          <a:blip r:embed="rId3"/>
          <a:stretch>
            <a:fillRect/>
          </a:stretch>
        </p:blipFill>
        <p:spPr>
          <a:xfrm>
            <a:off x="896000" y="2100000"/>
            <a:ext cx="8300000" cy="3018181"/>
          </a:xfrm>
          <a:prstGeom prst="rect">
            <a:avLst/>
          </a:prstGeom>
        </p:spPr>
      </p:pic>
      <p:sp>
        <p:nvSpPr>
          <p:cNvPr id="32" name="TextBox 31"/>
          <p:cNvSpPr txBox="1"/>
          <p:nvPr/>
        </p:nvSpPr>
        <p:spPr>
          <a:xfrm>
            <a:off x="896000" y="5208181"/>
            <a:ext cx="8300000" cy="461665"/>
          </a:xfrm>
          <a:prstGeom prst="rect">
            <a:avLst/>
          </a:prstGeom>
          <a:noFill/>
        </p:spPr>
        <p:txBody>
          <a:bodyPr wrap="square">
            <a:spAutoFit/>
          </a:bodyPr>
          <a:lstStyle/>
          <a:p>
            <a:r>
              <a:rPr sz="1200" i="1" dirty="0">
                <a:solidFill>
                  <a:srgbClr val="333333"/>
                </a:solidFill>
                <a:latin typeface="Times New Roman" panose="02020603050405020304" pitchFamily="18" charset="0"/>
                <a:cs typeface="Times New Roman" panose="02020603050405020304" pitchFamily="18" charset="0"/>
              </a:rPr>
              <a:t>Kharif gets far more rain and humidity thanks to the monsoon. Zaid is hotter and drier, which puts a lot more pressure on water availability</a:t>
            </a:r>
            <a:r>
              <a:rPr sz="1200" i="1" dirty="0">
                <a:solidFill>
                  <a:srgbClr val="333333"/>
                </a:solidFill>
                <a:latin typeface="Arial"/>
              </a:rPr>
              <a:t>.</a:t>
            </a:r>
          </a:p>
        </p:txBody>
      </p:sp>
    </p:spTree>
    <p:extLst>
      <p:ext uri="{BB962C8B-B14F-4D97-AF65-F5344CB8AC3E}">
        <p14:creationId xmlns:p14="http://schemas.microsoft.com/office/powerpoint/2010/main" val="3849627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latin typeface="Times New Roman" panose="02020603050405020304" pitchFamily="18" charset="0"/>
                <a:cs typeface="Times New Roman" panose="02020603050405020304" pitchFamily="18" charset="0"/>
              </a:rPr>
              <a:t>RESULTS </a:t>
            </a:r>
            <a:endParaRPr lang="en-IN"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896000" y="1230000"/>
            <a:ext cx="8300000" cy="400000"/>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700" b="1" dirty="0">
                <a:solidFill>
                  <a:srgbClr val="2C5F2D"/>
                </a:solidFill>
                <a:latin typeface="Times New Roman" panose="02020603050405020304" pitchFamily="18" charset="0"/>
                <a:cs typeface="Times New Roman" panose="02020603050405020304" pitchFamily="18" charset="0"/>
              </a:rPr>
              <a:t>The Irrigation Method You Pick Really Matters</a:t>
            </a:r>
            <a:endParaRPr lang="en-GB" sz="2000" dirty="0">
              <a:latin typeface="Times New Roman" panose="02020603050405020304" pitchFamily="18" charset="0"/>
              <a:cs typeface="Times New Roman" panose="02020603050405020304" pitchFamily="18" charset="0"/>
            </a:endParaRPr>
          </a:p>
        </p:txBody>
      </p:sp>
      <p:pic>
        <p:nvPicPr>
          <p:cNvPr id="31" name="Picture 30" descr="chart3_water_disease.png"/>
          <p:cNvPicPr>
            <a:picLocks noChangeAspect="1"/>
          </p:cNvPicPr>
          <p:nvPr/>
        </p:nvPicPr>
        <p:blipFill>
          <a:blip r:embed="rId3"/>
          <a:stretch>
            <a:fillRect/>
          </a:stretch>
        </p:blipFill>
        <p:spPr>
          <a:xfrm>
            <a:off x="896000" y="2100000"/>
            <a:ext cx="8300000" cy="3244545"/>
          </a:xfrm>
          <a:prstGeom prst="rect">
            <a:avLst/>
          </a:prstGeom>
        </p:spPr>
      </p:pic>
      <p:sp>
        <p:nvSpPr>
          <p:cNvPr id="32" name="TextBox 31"/>
          <p:cNvSpPr txBox="1"/>
          <p:nvPr/>
        </p:nvSpPr>
        <p:spPr>
          <a:xfrm>
            <a:off x="896000" y="5434545"/>
            <a:ext cx="8300000" cy="461665"/>
          </a:xfrm>
          <a:prstGeom prst="rect">
            <a:avLst/>
          </a:prstGeom>
          <a:noFill/>
        </p:spPr>
        <p:txBody>
          <a:bodyPr wrap="square">
            <a:spAutoFit/>
          </a:bodyPr>
          <a:lstStyle/>
          <a:p>
            <a:r>
              <a:rPr sz="1200" i="1" dirty="0">
                <a:solidFill>
                  <a:srgbClr val="333333"/>
                </a:solidFill>
                <a:latin typeface="Times New Roman" panose="02020603050405020304" pitchFamily="18" charset="0"/>
                <a:cs typeface="Times New Roman" panose="02020603050405020304" pitchFamily="18" charset="0"/>
              </a:rPr>
              <a:t>Rainfed and drip irrigation use water far more efficiently than flood irrigation does. Disease and pest risk is also worse in Kharif, likely because of the humidity.</a:t>
            </a:r>
          </a:p>
        </p:txBody>
      </p:sp>
    </p:spTree>
    <p:extLst>
      <p:ext uri="{BB962C8B-B14F-4D97-AF65-F5344CB8AC3E}">
        <p14:creationId xmlns:p14="http://schemas.microsoft.com/office/powerpoint/2010/main" val="1698901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latin typeface="Times New Roman" panose="02020603050405020304" pitchFamily="18" charset="0"/>
                <a:cs typeface="Times New Roman" panose="02020603050405020304" pitchFamily="18" charset="0"/>
              </a:rPr>
              <a:t>RESULTS</a:t>
            </a:r>
            <a:r>
              <a:rPr lang="en-GB" dirty="0">
                <a:latin typeface="Arial"/>
              </a:rPr>
              <a:t>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896000" y="1230000"/>
            <a:ext cx="8300000" cy="400000"/>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700" b="1" dirty="0">
                <a:solidFill>
                  <a:srgbClr val="2C5F2D"/>
                </a:solidFill>
                <a:latin typeface="Times New Roman" panose="02020603050405020304" pitchFamily="18" charset="0"/>
                <a:cs typeface="Times New Roman" panose="02020603050405020304" pitchFamily="18" charset="0"/>
              </a:rPr>
              <a:t>Every Single Crop Does Worse in Zaid</a:t>
            </a:r>
            <a:endParaRPr lang="en-GB" sz="2000" dirty="0">
              <a:latin typeface="Times New Roman" panose="02020603050405020304" pitchFamily="18" charset="0"/>
              <a:cs typeface="Times New Roman" panose="02020603050405020304" pitchFamily="18" charset="0"/>
            </a:endParaRPr>
          </a:p>
        </p:txBody>
      </p:sp>
      <p:pic>
        <p:nvPicPr>
          <p:cNvPr id="31" name="Picture 30" descr="chart4_crop_decline.png"/>
          <p:cNvPicPr>
            <a:picLocks noChangeAspect="1"/>
          </p:cNvPicPr>
          <p:nvPr/>
        </p:nvPicPr>
        <p:blipFill>
          <a:blip r:embed="rId3"/>
          <a:stretch>
            <a:fillRect/>
          </a:stretch>
        </p:blipFill>
        <p:spPr>
          <a:xfrm>
            <a:off x="896000" y="2100000"/>
            <a:ext cx="8300000" cy="3320000"/>
          </a:xfrm>
          <a:prstGeom prst="rect">
            <a:avLst/>
          </a:prstGeom>
        </p:spPr>
      </p:pic>
      <p:sp>
        <p:nvSpPr>
          <p:cNvPr id="32" name="TextBox 31"/>
          <p:cNvSpPr txBox="1"/>
          <p:nvPr/>
        </p:nvSpPr>
        <p:spPr>
          <a:xfrm>
            <a:off x="896000" y="5510000"/>
            <a:ext cx="8300000" cy="461665"/>
          </a:xfrm>
          <a:prstGeom prst="rect">
            <a:avLst/>
          </a:prstGeom>
          <a:noFill/>
        </p:spPr>
        <p:txBody>
          <a:bodyPr wrap="square">
            <a:spAutoFit/>
          </a:bodyPr>
          <a:lstStyle/>
          <a:p>
            <a:r>
              <a:rPr sz="1200" i="1" dirty="0">
                <a:solidFill>
                  <a:srgbClr val="333333"/>
                </a:solidFill>
                <a:latin typeface="Times New Roman" panose="02020603050405020304" pitchFamily="18" charset="0"/>
                <a:cs typeface="Times New Roman" panose="02020603050405020304" pitchFamily="18" charset="0"/>
              </a:rPr>
              <a:t>All 8 crops lose yield going from Kharif to Zaid - anywhere from 22% (wheat, maize) to 35% (pulses). It's not a one-off; it shows up across the board.</a:t>
            </a:r>
          </a:p>
        </p:txBody>
      </p:sp>
    </p:spTree>
    <p:extLst>
      <p:ext uri="{BB962C8B-B14F-4D97-AF65-F5344CB8AC3E}">
        <p14:creationId xmlns:p14="http://schemas.microsoft.com/office/powerpoint/2010/main" val="1903979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latin typeface="Times New Roman" panose="02020603050405020304" pitchFamily="18" charset="0"/>
                <a:cs typeface="Times New Roman" panose="02020603050405020304" pitchFamily="18" charset="0"/>
              </a:rPr>
              <a:t>RESULTS</a:t>
            </a:r>
            <a:r>
              <a:rPr lang="en-GB" dirty="0">
                <a:latin typeface="Arial"/>
              </a:rPr>
              <a:t>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896000" y="1230000"/>
            <a:ext cx="8300000" cy="400000"/>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700" b="1" dirty="0">
                <a:solidFill>
                  <a:srgbClr val="2C5F2D"/>
                </a:solidFill>
                <a:latin typeface="Times New Roman" panose="02020603050405020304" pitchFamily="18" charset="0"/>
                <a:cs typeface="Times New Roman" panose="02020603050405020304" pitchFamily="18" charset="0"/>
              </a:rPr>
              <a:t>Water Efficiency Matters More Than Anything Else</a:t>
            </a:r>
            <a:endParaRPr lang="en-GB" sz="2000" dirty="0">
              <a:latin typeface="Times New Roman" panose="02020603050405020304" pitchFamily="18" charset="0"/>
              <a:cs typeface="Times New Roman" panose="02020603050405020304" pitchFamily="18" charset="0"/>
            </a:endParaRPr>
          </a:p>
        </p:txBody>
      </p:sp>
      <p:pic>
        <p:nvPicPr>
          <p:cNvPr id="31" name="Picture 30" descr="chart5_risk_drivers.png"/>
          <p:cNvPicPr>
            <a:picLocks noChangeAspect="1"/>
          </p:cNvPicPr>
          <p:nvPr/>
        </p:nvPicPr>
        <p:blipFill>
          <a:blip r:embed="rId3"/>
          <a:stretch>
            <a:fillRect/>
          </a:stretch>
        </p:blipFill>
        <p:spPr>
          <a:xfrm>
            <a:off x="896000" y="2100000"/>
            <a:ext cx="8300000" cy="3244545"/>
          </a:xfrm>
          <a:prstGeom prst="rect">
            <a:avLst/>
          </a:prstGeom>
        </p:spPr>
      </p:pic>
      <p:sp>
        <p:nvSpPr>
          <p:cNvPr id="32" name="TextBox 31"/>
          <p:cNvSpPr txBox="1"/>
          <p:nvPr/>
        </p:nvSpPr>
        <p:spPr>
          <a:xfrm>
            <a:off x="896000" y="5434545"/>
            <a:ext cx="8300000" cy="461665"/>
          </a:xfrm>
          <a:prstGeom prst="rect">
            <a:avLst/>
          </a:prstGeom>
          <a:noFill/>
        </p:spPr>
        <p:txBody>
          <a:bodyPr wrap="square">
            <a:spAutoFit/>
          </a:bodyPr>
          <a:lstStyle/>
          <a:p>
            <a:r>
              <a:rPr sz="1200" i="1" dirty="0">
                <a:solidFill>
                  <a:srgbClr val="333333"/>
                </a:solidFill>
                <a:latin typeface="Times New Roman" panose="02020603050405020304" pitchFamily="18" charset="0"/>
                <a:cs typeface="Times New Roman" panose="02020603050405020304" pitchFamily="18" charset="0"/>
              </a:rPr>
              <a:t>The share of farms losing money jumps from 42% in Kharif to 65% in Zaid. And of everything checked, water-use efficiency correlates with yield the most (r = 0.91).</a:t>
            </a:r>
          </a:p>
        </p:txBody>
      </p:sp>
    </p:spTree>
    <p:extLst>
      <p:ext uri="{BB962C8B-B14F-4D97-AF65-F5344CB8AC3E}">
        <p14:creationId xmlns:p14="http://schemas.microsoft.com/office/powerpoint/2010/main" val="1421522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latin typeface="Times New Roman" panose="02020603050405020304" pitchFamily="18" charset="0"/>
                <a:cs typeface="Times New Roman" panose="02020603050405020304" pitchFamily="18" charset="0"/>
              </a:rPr>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675957" y="2100000"/>
            <a:ext cx="10800000" cy="2650341"/>
          </a:xfrm>
          <a:prstGeom prst="rect">
            <a:avLst/>
          </a:prstGeom>
          <a:noFill/>
        </p:spPr>
        <p:txBody>
          <a:bodyPr wrap="square">
            <a:spAutoFit/>
          </a:bodyPr>
          <a:lstStyle/>
          <a:p>
            <a:pPr algn="l">
              <a:lnSpc>
                <a:spcPct val="125000"/>
              </a:lnSpc>
              <a:spcAft>
                <a:spcPts val="800"/>
              </a:spcAft>
            </a:pPr>
            <a:r>
              <a:rPr sz="1800" dirty="0">
                <a:solidFill>
                  <a:srgbClr val="333333"/>
                </a:solidFill>
                <a:latin typeface="Times New Roman" panose="02020603050405020304" pitchFamily="18" charset="0"/>
                <a:cs typeface="Times New Roman" panose="02020603050405020304" pitchFamily="18" charset="0"/>
              </a:rPr>
              <a:t>•  Try building a simple ML model that predicts yield or profit from season and weather</a:t>
            </a:r>
          </a:p>
          <a:p>
            <a:pPr algn="l">
              <a:lnSpc>
                <a:spcPct val="125000"/>
              </a:lnSpc>
              <a:spcAft>
                <a:spcPts val="800"/>
              </a:spcAft>
            </a:pPr>
            <a:r>
              <a:rPr sz="1800" dirty="0">
                <a:solidFill>
                  <a:srgbClr val="333333"/>
                </a:solidFill>
                <a:latin typeface="Times New Roman" panose="02020603050405020304" pitchFamily="18" charset="0"/>
                <a:cs typeface="Times New Roman" panose="02020603050405020304" pitchFamily="18" charset="0"/>
              </a:rPr>
              <a:t>•  Hook up a live weather API so advisories can update in real time</a:t>
            </a:r>
          </a:p>
          <a:p>
            <a:pPr algn="l">
              <a:lnSpc>
                <a:spcPct val="125000"/>
              </a:lnSpc>
              <a:spcAft>
                <a:spcPts val="800"/>
              </a:spcAft>
            </a:pPr>
            <a:r>
              <a:rPr sz="1800" dirty="0">
                <a:solidFill>
                  <a:srgbClr val="333333"/>
                </a:solidFill>
                <a:latin typeface="Times New Roman" panose="02020603050405020304" pitchFamily="18" charset="0"/>
                <a:cs typeface="Times New Roman" panose="02020603050405020304" pitchFamily="18" charset="0"/>
              </a:rPr>
              <a:t>•  Bring in more states and more years of data to see if these patterns hold up over time</a:t>
            </a:r>
          </a:p>
          <a:p>
            <a:pPr algn="l">
              <a:lnSpc>
                <a:spcPct val="125000"/>
              </a:lnSpc>
              <a:spcAft>
                <a:spcPts val="800"/>
              </a:spcAft>
            </a:pPr>
            <a:r>
              <a:rPr sz="1800" dirty="0">
                <a:solidFill>
                  <a:srgbClr val="333333"/>
                </a:solidFill>
                <a:latin typeface="Times New Roman" panose="02020603050405020304" pitchFamily="18" charset="0"/>
                <a:cs typeface="Times New Roman" panose="02020603050405020304" pitchFamily="18" charset="0"/>
              </a:rPr>
              <a:t>•  Turn this into an interactive dashboard (Power BI or </a:t>
            </a:r>
            <a:r>
              <a:rPr sz="1800" dirty="0" err="1">
                <a:solidFill>
                  <a:srgbClr val="333333"/>
                </a:solidFill>
                <a:latin typeface="Times New Roman" panose="02020603050405020304" pitchFamily="18" charset="0"/>
                <a:cs typeface="Times New Roman" panose="02020603050405020304" pitchFamily="18" charset="0"/>
              </a:rPr>
              <a:t>Streamlit</a:t>
            </a:r>
            <a:r>
              <a:rPr sz="1800" dirty="0">
                <a:solidFill>
                  <a:srgbClr val="333333"/>
                </a:solidFill>
                <a:latin typeface="Times New Roman" panose="02020603050405020304" pitchFamily="18" charset="0"/>
                <a:cs typeface="Times New Roman" panose="02020603050405020304" pitchFamily="18" charset="0"/>
              </a:rPr>
              <a:t>) that farmers could actually use</a:t>
            </a:r>
          </a:p>
          <a:p>
            <a:pPr algn="l">
              <a:lnSpc>
                <a:spcPct val="125000"/>
              </a:lnSpc>
              <a:spcAft>
                <a:spcPts val="800"/>
              </a:spcAft>
            </a:pPr>
            <a:r>
              <a:rPr sz="1800" dirty="0">
                <a:solidFill>
                  <a:srgbClr val="333333"/>
                </a:solidFill>
                <a:latin typeface="Times New Roman" panose="02020603050405020304" pitchFamily="18" charset="0"/>
                <a:cs typeface="Times New Roman" panose="02020603050405020304" pitchFamily="18" charset="0"/>
              </a:rPr>
              <a:t>•  Use satellite-based soil moisture data instead of relying on manual readings</a:t>
            </a:r>
          </a:p>
          <a:p>
            <a:pPr algn="l">
              <a:lnSpc>
                <a:spcPct val="125000"/>
              </a:lnSpc>
              <a:spcAft>
                <a:spcPts val="800"/>
              </a:spcAft>
            </a:pPr>
            <a:r>
              <a:rPr sz="1800" dirty="0">
                <a:solidFill>
                  <a:srgbClr val="333333"/>
                </a:solidFill>
                <a:latin typeface="Times New Roman" panose="02020603050405020304" pitchFamily="18" charset="0"/>
                <a:cs typeface="Times New Roman" panose="02020603050405020304" pitchFamily="18" charset="0"/>
              </a:rPr>
              <a:t>•  Build a simple crop-recommendation tool based on which crops pay off best each season</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latin typeface="Times New Roman" panose="02020603050405020304" pitchFamily="18" charset="0"/>
                <a:cs typeface="Times New Roman" panose="02020603050405020304" pitchFamily="18" charset="0"/>
              </a:rPr>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675957" y="1358410"/>
            <a:ext cx="9800000" cy="338554"/>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https://github.com/karanchakradhari08/Seasonal-Agriculture-Performance-Analysis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18052"/>
            <a:ext cx="2143125" cy="322783"/>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latin typeface="Times New Roman" panose="02020603050405020304" pitchFamily="18" charset="0"/>
                <a:cs typeface="Times New Roman" panose="02020603050405020304" pitchFamily="18" charset="0"/>
              </a:rPr>
              <a:t>VOIS Course completion certificate - </a:t>
            </a:r>
            <a:br>
              <a:rPr lang="en-IN"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52BF93CF-2A0D-EF29-EFCC-77E9C37FE9F7}"/>
              </a:ext>
            </a:extLst>
          </p:cNvPr>
          <p:cNvPicPr>
            <a:picLocks noChangeAspect="1"/>
          </p:cNvPicPr>
          <p:nvPr/>
        </p:nvPicPr>
        <p:blipFill>
          <a:blip r:embed="rId3"/>
          <a:stretch>
            <a:fillRect/>
          </a:stretch>
        </p:blipFill>
        <p:spPr>
          <a:xfrm>
            <a:off x="1611628" y="1608410"/>
            <a:ext cx="6480045" cy="4603161"/>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26000" y="1379237"/>
            <a:ext cx="11340000" cy="700114"/>
          </a:xfrm>
          <a:prstGeom prst="rect">
            <a:avLst/>
          </a:prstGeom>
        </p:spPr>
        <p:txBody>
          <a:bodyPr anchor="ctr">
            <a:normAutofit fontScale="90000"/>
          </a:bodyPr>
          <a:lstStyle/>
          <a:p>
            <a:pPr algn="ctr"/>
            <a:r>
              <a:rPr lang="en-US" sz="4800" b="1" dirty="0">
                <a:solidFill>
                  <a:schemeClr val="tx1"/>
                </a:solidFill>
                <a:latin typeface="Times New Roman" panose="02020603050405020304" pitchFamily="18" charset="0"/>
                <a:cs typeface="Times New Roman" panose="02020603050405020304" pitchFamily="18" charset="0"/>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latin typeface="Arial"/>
              </a:rPr>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latin typeface="Arial"/>
              </a:rPr>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Arial"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1425</TotalTime>
  <Words>738</Words>
  <Application>Microsoft Office PowerPoint</Application>
  <PresentationFormat>Widescreen</PresentationFormat>
  <Paragraphs>50</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Times New Roman</vt:lpstr>
      <vt:lpstr>Wingdings</vt:lpstr>
      <vt:lpstr>Wingdings 3</vt:lpstr>
      <vt:lpstr>Facet</vt:lpstr>
      <vt:lpstr>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KARAN CHAKRADHARI</cp:lastModifiedBy>
  <cp:revision>99</cp:revision>
  <dcterms:created xsi:type="dcterms:W3CDTF">2021-07-11T13:13:15Z</dcterms:created>
  <dcterms:modified xsi:type="dcterms:W3CDTF">2026-09-07T16:42:30Z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